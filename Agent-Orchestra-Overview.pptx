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Agent Orchestra turns a high-level request into either a grounded Markdown deliverable or a browser-ready website, while preserving project context and revision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an engineering workflow problem rather than a model problem. Orchestra adds context, persistence, observability, and recovery around model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automatic routing. Document requests avoid website stages. Website requests use the multi-agent implementation pipeline. Explicit task modes can skip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separation of concerns. Models can change without rewriting agents or persistence. The manifest is authoritative and revisions are the recovery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interface. The visual office is a state visualization, while Chat, IDE, Preview, and Activity are operational surfaces connected to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balanced message: core workflows and persistence are implemented and tested. Live provider acceptance, authentication, runtime execution, and OCR are the next product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CHESTRA_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2788920"/>
            <a:ext cx="1097280" cy="1097280"/>
          </a:xfrm>
          <a:prstGeom prst="ellipse">
            <a:avLst/>
          </a:prstGeom>
          <a:solidFill>
            <a:srgbClr val="0B1020">
              <a:alpha val="0"/>
            </a:srgbClr>
          </a:solidFill>
          <a:ln w="12700">
            <a:solidFill>
              <a:srgbClr val="64E6D3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2423160"/>
            <a:ext cx="1828800" cy="1828800"/>
          </a:xfrm>
          <a:prstGeom prst="ellipse">
            <a:avLst/>
          </a:prstGeom>
          <a:solidFill>
            <a:srgbClr val="0B1020">
              <a:alpha val="0"/>
            </a:srgbClr>
          </a:solidFill>
          <a:ln w="12700">
            <a:solidFill>
              <a:srgbClr val="9B8CF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2280" y="2057400"/>
            <a:ext cx="2560320" cy="2560320"/>
          </a:xfrm>
          <a:prstGeom prst="ellipse">
            <a:avLst/>
          </a:prstGeom>
          <a:solidFill>
            <a:srgbClr val="0B1020">
              <a:alpha val="0"/>
            </a:srgbClr>
          </a:solidFill>
          <a:ln w="12700">
            <a:solidFill>
              <a:srgbClr val="64E6D3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1691640"/>
            <a:ext cx="3291840" cy="3291840"/>
          </a:xfrm>
          <a:prstGeom prst="ellipse">
            <a:avLst/>
          </a:prstGeom>
          <a:solidFill>
            <a:srgbClr val="0B1020">
              <a:alpha val="0"/>
            </a:srgbClr>
          </a:solidFill>
          <a:ln w="12700">
            <a:solidFill>
              <a:srgbClr val="9B8CF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3337560"/>
            <a:ext cx="246888" cy="-1380744"/>
          </a:xfrm>
          <a:prstGeom prst="line">
            <a:avLst/>
          </a:prstGeom>
          <a:noFill/>
          <a:ln w="11430">
            <a:solidFill>
              <a:srgbClr val="64E6D3"/>
            </a:solidFill>
            <a:prstDash val="solid"/>
            <a:headEnd type="none"/>
          </a:ln>
        </p:spPr>
      </p:sp>
      <p:sp>
        <p:nvSpPr>
          <p:cNvPr id="7" name="Shape 5"/>
          <p:cNvSpPr/>
          <p:nvPr/>
        </p:nvSpPr>
        <p:spPr>
          <a:xfrm>
            <a:off x="8247888" y="1865376"/>
            <a:ext cx="384048" cy="384048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47888" y="18836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3337560"/>
            <a:ext cx="1737360" cy="-722376"/>
          </a:xfrm>
          <a:prstGeom prst="line">
            <a:avLst/>
          </a:prstGeom>
          <a:noFill/>
          <a:ln w="11430">
            <a:solidFill>
              <a:srgbClr val="9B8CFF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9738360" y="2523744"/>
            <a:ext cx="384048" cy="384048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38360" y="25420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3337560"/>
            <a:ext cx="2441448" cy="740664"/>
          </a:xfrm>
          <a:prstGeom prst="line">
            <a:avLst/>
          </a:prstGeom>
          <a:noFill/>
          <a:ln w="11430">
            <a:solidFill>
              <a:srgbClr val="FF8C73"/>
            </a:solidFill>
            <a:prstDash val="solid"/>
            <a:headEnd type="none"/>
          </a:ln>
        </p:spPr>
      </p:sp>
      <p:sp>
        <p:nvSpPr>
          <p:cNvPr id="13" name="Shape 11"/>
          <p:cNvSpPr/>
          <p:nvPr/>
        </p:nvSpPr>
        <p:spPr>
          <a:xfrm>
            <a:off x="10442448" y="3986784"/>
            <a:ext cx="384048" cy="384048"/>
          </a:xfrm>
          <a:prstGeom prst="ellipse">
            <a:avLst/>
          </a:prstGeom>
          <a:solidFill>
            <a:srgbClr val="FF8C73"/>
          </a:solidFill>
          <a:ln w="12700">
            <a:solidFill>
              <a:srgbClr val="FF8C73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42448" y="40050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3337560"/>
            <a:ext cx="1161288" cy="1719072"/>
          </a:xfrm>
          <a:prstGeom prst="line">
            <a:avLst/>
          </a:prstGeom>
          <a:noFill/>
          <a:ln w="11430">
            <a:solidFill>
              <a:srgbClr val="FFC857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9162288" y="4965192"/>
            <a:ext cx="384048" cy="38404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2288" y="49834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3337560"/>
            <a:ext cx="-502920" cy="1508760"/>
          </a:xfrm>
          <a:prstGeom prst="line">
            <a:avLst/>
          </a:prstGeom>
          <a:noFill/>
          <a:ln w="11430">
            <a:solidFill>
              <a:srgbClr val="64B5FF"/>
            </a:solidFill>
            <a:prstDash val="solid"/>
            <a:headEnd type="none"/>
          </a:ln>
        </p:spPr>
      </p:sp>
      <p:sp>
        <p:nvSpPr>
          <p:cNvPr id="19" name="Shape 17"/>
          <p:cNvSpPr/>
          <p:nvPr/>
        </p:nvSpPr>
        <p:spPr>
          <a:xfrm>
            <a:off x="7498080" y="4754880"/>
            <a:ext cx="384048" cy="384048"/>
          </a:xfrm>
          <a:prstGeom prst="ellipse">
            <a:avLst/>
          </a:prstGeom>
          <a:solidFill>
            <a:srgbClr val="64B5FF"/>
          </a:solidFill>
          <a:ln w="12700">
            <a:solidFill>
              <a:srgbClr val="64B5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47731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3337560"/>
            <a:ext cx="-1344168" cy="73152"/>
          </a:xfrm>
          <a:prstGeom prst="line">
            <a:avLst/>
          </a:prstGeom>
          <a:noFill/>
          <a:ln w="11430">
            <a:solidFill>
              <a:srgbClr val="80E0A3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6656832" y="3319272"/>
            <a:ext cx="384048" cy="384048"/>
          </a:xfrm>
          <a:prstGeom prst="ellipse">
            <a:avLst/>
          </a:prstGeom>
          <a:solidFill>
            <a:srgbClr val="80E0A3"/>
          </a:solidFill>
          <a:ln w="12700">
            <a:solidFill>
              <a:srgbClr val="80E0A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333756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658368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7132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1417320"/>
            <a:ext cx="5806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intent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shipped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experiences.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" y="340156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project-scoped AI workspace for file analysis, Markdown deliverables, website generation, live preview, and human-in-the-loop editing.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" y="4617720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" y="462686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LOGICAL ROLES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4617720"/>
            <a:ext cx="1408176" cy="256032"/>
          </a:xfrm>
          <a:prstGeom prst="roundRect">
            <a:avLst>
              <a:gd name="adj" fmla="val 50000"/>
            </a:avLst>
          </a:prstGeom>
          <a:solidFill>
            <a:srgbClr val="FF8C73"/>
          </a:solidFill>
          <a:ln w="12700">
            <a:solidFill>
              <a:srgbClr val="FF8C73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03120" y="462686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REVISIONS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48456" y="4617720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48456" y="4626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PREVIEW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agents. One shared context. Zero lost intent.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  /  SIX-SLIDE PRODUCT STORY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9319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WHY IT EXISTS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work breaks at the handoff.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075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 write. The workspace must preserve intent, evidence, files, and trust.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1000232" cy="0"/>
          </a:xfrm>
          <a:prstGeom prst="line">
            <a:avLst/>
          </a:prstGeom>
          <a:noFill/>
          <a:ln w="10160">
            <a:solidFill>
              <a:srgbClr val="263653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713232" y="2267712"/>
            <a:ext cx="402336" cy="402336"/>
          </a:xfrm>
          <a:prstGeom prst="ellipse">
            <a:avLst/>
          </a:prstGeom>
          <a:solidFill>
            <a:srgbClr val="FF8C73"/>
          </a:solidFill>
          <a:ln w="12700">
            <a:solidFill>
              <a:srgbClr val="FF8C73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81428"/>
            <a:ext cx="4023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drift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514600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agents receive different context. Decisions disappear between planning and implementation.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090672"/>
            <a:ext cx="4526280" cy="0"/>
          </a:xfrm>
          <a:prstGeom prst="line">
            <a:avLst/>
          </a:prstGeom>
          <a:noFill/>
          <a:ln w="10160">
            <a:solidFill>
              <a:srgbClr val="263653"/>
            </a:solidFill>
            <a:prstDash val="solid"/>
            <a:headEnd type="none"/>
          </a:ln>
        </p:spPr>
      </p:sp>
      <p:sp>
        <p:nvSpPr>
          <p:cNvPr id="11" name="Shape 9"/>
          <p:cNvSpPr/>
          <p:nvPr/>
        </p:nvSpPr>
        <p:spPr>
          <a:xfrm>
            <a:off x="713232" y="3383280"/>
            <a:ext cx="402336" cy="40233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396996"/>
            <a:ext cx="4023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fragility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630168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generated answer overwrites source, loses binary assets, or leaves the project in a half-written state.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206240"/>
            <a:ext cx="4526280" cy="0"/>
          </a:xfrm>
          <a:prstGeom prst="line">
            <a:avLst/>
          </a:prstGeom>
          <a:noFill/>
          <a:ln w="10160">
            <a:solidFill>
              <a:srgbClr val="263653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713232" y="4498848"/>
            <a:ext cx="402336" cy="402336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512564"/>
            <a:ext cx="4023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visible proof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745736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cannot see what was read, what changed, what failed, or whether a preview is actually safe to open.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2148840"/>
            <a:ext cx="5084064" cy="3611880"/>
          </a:xfrm>
          <a:prstGeom prst="roundRect">
            <a:avLst>
              <a:gd name="adj" fmla="val 4051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84848" y="245059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ORCHESTRA RESPONSE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2788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durable control plane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creative work.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6812280" y="3867912"/>
            <a:ext cx="109728" cy="109728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22592" y="38130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28432" y="381304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read project files before editing.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4279392"/>
            <a:ext cx="109728" cy="109728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22592" y="4224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28432" y="42245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batch becomes an atomic revision.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4690872"/>
            <a:ext cx="109728" cy="109728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22592" y="46360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028432" y="46360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 streams states, costs, and findings.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280" y="5102352"/>
            <a:ext cx="109728" cy="109728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22592" y="50474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28432" y="50474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History, diffs, restore, and source preservation.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  /  PRODUCT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9319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TWO DELIVERABLES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request. Two intelligent paths.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075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routing chooses the smallest workflow that can satisfy the user without unnecessary source changes.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1000232" cy="0"/>
          </a:xfrm>
          <a:prstGeom prst="line">
            <a:avLst/>
          </a:prstGeom>
          <a:noFill/>
          <a:ln w="10160">
            <a:solidFill>
              <a:srgbClr val="263653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685800" y="2423160"/>
            <a:ext cx="1965960" cy="1234440"/>
          </a:xfrm>
          <a:prstGeom prst="roundRect">
            <a:avLst>
              <a:gd name="adj" fmla="val 10370"/>
            </a:avLst>
          </a:prstGeom>
          <a:solidFill>
            <a:srgbClr val="172239"/>
          </a:solidFill>
          <a:ln w="12700">
            <a:solidFill>
              <a:srgbClr val="64E6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70048"/>
            <a:ext cx="384048" cy="384048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68376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60604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99923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“Explain these files”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“Build this site”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70048" y="3035808"/>
            <a:ext cx="1005840" cy="0"/>
          </a:xfrm>
          <a:prstGeom prst="line">
            <a:avLst/>
          </a:prstGeom>
          <a:noFill/>
          <a:ln w="19050">
            <a:solidFill>
              <a:srgbClr val="64E6D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75888" y="2660904"/>
            <a:ext cx="749808" cy="749808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28346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35295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25696" y="3035808"/>
            <a:ext cx="713232" cy="-704088"/>
          </a:xfrm>
          <a:prstGeom prst="line">
            <a:avLst/>
          </a:prstGeom>
          <a:noFill/>
          <a:ln w="17780">
            <a:solidFill>
              <a:srgbClr val="64E6D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25696" y="3035808"/>
            <a:ext cx="713232" cy="1124712"/>
          </a:xfrm>
          <a:prstGeom prst="line">
            <a:avLst/>
          </a:prstGeom>
          <a:noFill/>
          <a:ln w="17780">
            <a:solidFill>
              <a:srgbClr val="FF8C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93792" y="1920240"/>
            <a:ext cx="2761488" cy="1993392"/>
          </a:xfrm>
          <a:prstGeom prst="roundRect">
            <a:avLst>
              <a:gd name="adj" fmla="val 5963"/>
            </a:avLst>
          </a:prstGeom>
          <a:solidFill>
            <a:srgbClr val="121A2C"/>
          </a:solidFill>
          <a:ln w="12700">
            <a:solidFill>
              <a:srgbClr val="64E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21396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ANALYST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514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→ extract → write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29535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new Markdown artifact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authoritative source coverage.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3529584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35387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SOURCES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39712" y="35295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9712" y="3538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.MD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93792" y="3730752"/>
            <a:ext cx="5577840" cy="1993392"/>
          </a:xfrm>
          <a:prstGeom prst="roundRect">
            <a:avLst>
              <a:gd name="adj" fmla="val 5963"/>
            </a:avLst>
          </a:prstGeom>
          <a:solidFill>
            <a:srgbClr val="121A2C"/>
          </a:solidFill>
          <a:ln w="12700">
            <a:solidFill>
              <a:srgbClr val="FF8C7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39410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FF8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OR APP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4297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→ specialize → code → audit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49824" y="4846320"/>
            <a:ext cx="896112" cy="393192"/>
          </a:xfrm>
          <a:prstGeom prst="roundRect">
            <a:avLst>
              <a:gd name="adj" fmla="val 18605"/>
            </a:avLst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49824" y="49469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45936" y="5047488"/>
            <a:ext cx="137160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37960" y="4846320"/>
            <a:ext cx="896112" cy="393192"/>
          </a:xfrm>
          <a:prstGeom prst="roundRect">
            <a:avLst>
              <a:gd name="adj" fmla="val 18605"/>
            </a:avLst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49469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34072" y="5047488"/>
            <a:ext cx="137160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26096" y="4846320"/>
            <a:ext cx="896112" cy="393192"/>
          </a:xfrm>
          <a:prstGeom prst="roundRect">
            <a:avLst>
              <a:gd name="adj" fmla="val 18605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26096" y="49469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522208" y="5047488"/>
            <a:ext cx="137160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14232" y="4846320"/>
            <a:ext cx="896112" cy="393192"/>
          </a:xfrm>
          <a:prstGeom prst="roundRect">
            <a:avLst>
              <a:gd name="adj" fmla="val 18605"/>
            </a:avLst>
          </a:prstGeom>
          <a:solidFill>
            <a:srgbClr val="80E0A3"/>
          </a:solidFill>
          <a:ln w="12700">
            <a:solidFill>
              <a:srgbClr val="80E0A3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14232" y="49469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440680" y="540410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Commits a complete file batch, validates references, then opens a sandboxed preview.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  /  PRODUCT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9319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is replaceable. The workspace is durable.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075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own intent. The gateway owns inference. The project manifest owns truth.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1000232" cy="0"/>
          </a:xfrm>
          <a:prstGeom prst="line">
            <a:avLst/>
          </a:prstGeom>
          <a:noFill/>
          <a:ln w="10160">
            <a:solidFill>
              <a:srgbClr val="263653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713232" y="2112264"/>
            <a:ext cx="4882896" cy="557784"/>
          </a:xfrm>
          <a:prstGeom prst="roundRect">
            <a:avLst>
              <a:gd name="adj" fmla="val 16393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31136"/>
            <a:ext cx="320040" cy="320040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31343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128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779776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· IDE · Office · Preview · Activity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063240" y="2670048"/>
            <a:ext cx="0" cy="192024"/>
          </a:xfrm>
          <a:prstGeom prst="line">
            <a:avLst/>
          </a:prstGeom>
          <a:noFill/>
          <a:ln w="1270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3232" y="2862072"/>
            <a:ext cx="4882896" cy="557784"/>
          </a:xfrm>
          <a:prstGeom prst="roundRect">
            <a:avLst>
              <a:gd name="adj" fmla="val 16393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980944"/>
            <a:ext cx="320040" cy="320040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0632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96265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9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779776" y="29626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· specialists · Coding Agent · QA Agent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063240" y="3419856"/>
            <a:ext cx="0" cy="192024"/>
          </a:xfrm>
          <a:prstGeom prst="line">
            <a:avLst/>
          </a:prstGeom>
          <a:noFill/>
          <a:ln w="1270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3232" y="3611880"/>
            <a:ext cx="4882896" cy="557784"/>
          </a:xfrm>
          <a:prstGeom prst="roundRect">
            <a:avLst>
              <a:gd name="adj" fmla="val 16393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3730752"/>
            <a:ext cx="320040" cy="3200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38130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71246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GATEWAY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779776" y="3712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· NVIDIA · Mistral · OpenRouter · retries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3063240" y="4169664"/>
            <a:ext cx="0" cy="192024"/>
          </a:xfrm>
          <a:prstGeom prst="line">
            <a:avLst/>
          </a:prstGeom>
          <a:noFill/>
          <a:ln w="1270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3232" y="4361688"/>
            <a:ext cx="4882896" cy="557784"/>
          </a:xfrm>
          <a:prstGeom prst="roundRect">
            <a:avLst>
              <a:gd name="adj" fmla="val 16393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4480560"/>
            <a:ext cx="320040" cy="320040"/>
          </a:xfrm>
          <a:prstGeom prst="ellipse">
            <a:avLst/>
          </a:prstGeom>
          <a:solidFill>
            <a:srgbClr val="FF8C73"/>
          </a:solidFill>
          <a:ln w="12700">
            <a:solidFill>
              <a:srgbClr val="FF8C73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" y="456285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46227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FF8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TRUTH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779776" y="44622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· immutable blobs · revisions · GridFS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144768" y="2103120"/>
            <a:ext cx="5358384" cy="3639312"/>
          </a:xfrm>
          <a:prstGeom prst="roundRect">
            <a:avLst>
              <a:gd name="adj" fmla="val 4020"/>
            </a:avLst>
          </a:prstGeom>
          <a:solidFill>
            <a:srgbClr val="172239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24323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10528" y="2871216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10528" y="28849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931152" y="28620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Decoupled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973568" y="286207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never call providers directly.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10528" y="3401568"/>
            <a:ext cx="256032" cy="256032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0528" y="341528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931152" y="339242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973568" y="339242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files are read before mutation.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10528" y="3931920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10528" y="394563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931152" y="392277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973568" y="39227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batch publishes as one revision or nothing.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4462272"/>
            <a:ext cx="256032" cy="256032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10528" y="447598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931152" y="445312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973568" y="44531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creates a new revision; history survives.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10528" y="4992624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10528" y="50063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931152" y="498348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Sandboxed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973568" y="49834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runs on a separate read-only origin.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58064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55" kern="0" dirty="0">
                <a:solidFill>
                  <a:srgbClr val="80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409 CONFLICTS  ·  SYMLINK GUARDS  ·  SIZE LIMITS  ·  SOURCE PRESERVATION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  /  PRODUCT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 advClick="1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9319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EXPERIENCE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workspace makes invisible work visible.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075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live control room for prompts, agent states, source files, preview output, and evidence.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1000232" cy="0"/>
          </a:xfrm>
          <a:prstGeom prst="line">
            <a:avLst/>
          </a:prstGeom>
          <a:noFill/>
          <a:ln w="10160">
            <a:solidFill>
              <a:srgbClr val="263653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713232" y="2157984"/>
            <a:ext cx="2084832" cy="2139696"/>
          </a:xfrm>
          <a:prstGeom prst="roundRect">
            <a:avLst>
              <a:gd name="adj" fmla="val 5702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57984"/>
            <a:ext cx="2084832" cy="292608"/>
          </a:xfrm>
          <a:prstGeom prst="roundRect">
            <a:avLst>
              <a:gd name="adj" fmla="val 40625"/>
            </a:avLst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240280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2688336"/>
            <a:ext cx="1773936" cy="1051560"/>
          </a:xfrm>
          <a:prstGeom prst="roundRect">
            <a:avLst>
              <a:gd name="adj" fmla="val 6957"/>
            </a:avLst>
          </a:prstGeom>
          <a:solidFill>
            <a:srgbClr val="1B2940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300984"/>
            <a:ext cx="219456" cy="219456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0744" y="3118104"/>
            <a:ext cx="219456" cy="219456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3300984"/>
            <a:ext cx="219456" cy="21945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3118104"/>
            <a:ext cx="219456" cy="219456"/>
          </a:xfrm>
          <a:prstGeom prst="ellipse">
            <a:avLst/>
          </a:prstGeom>
          <a:solidFill>
            <a:srgbClr val="80E0A3"/>
          </a:solidFill>
          <a:ln w="12700">
            <a:solidFill>
              <a:srgbClr val="80E0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" y="3730752"/>
            <a:ext cx="1517904" cy="0"/>
          </a:xfrm>
          <a:prstGeom prst="line">
            <a:avLst/>
          </a:prstGeom>
          <a:noFill/>
          <a:ln w="12700">
            <a:solidFill>
              <a:srgbClr val="263653"/>
            </a:solidFill>
            <a:prstDash val="solid"/>
            <a:headEnd type="none"/>
          </a:ln>
        </p:spPr>
      </p:sp>
      <p:sp>
        <p:nvSpPr>
          <p:cNvPr id="15" name="Text 13"/>
          <p:cNvSpPr txBox="1"/>
          <p:nvPr/>
        </p:nvSpPr>
        <p:spPr>
          <a:xfrm>
            <a:off x="941832" y="39044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states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0" y="2157984"/>
            <a:ext cx="2084832" cy="2139696"/>
          </a:xfrm>
          <a:prstGeom prst="roundRect">
            <a:avLst>
              <a:gd name="adj" fmla="val 5702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157984"/>
            <a:ext cx="2084832" cy="292608"/>
          </a:xfrm>
          <a:prstGeom prst="roundRect">
            <a:avLst>
              <a:gd name="adj" fmla="val 40625"/>
            </a:avLst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44952" y="2240280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08960" y="2715768"/>
            <a:ext cx="1325880" cy="164592"/>
          </a:xfrm>
          <a:prstGeom prst="roundRect">
            <a:avLst>
              <a:gd name="adj" fmla="val 33333"/>
            </a:avLst>
          </a:prstGeom>
          <a:solidFill>
            <a:srgbClr val="233148"/>
          </a:solidFill>
          <a:ln w="12700">
            <a:solidFill>
              <a:srgbClr val="2B3A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3044952"/>
            <a:ext cx="1636776" cy="164592"/>
          </a:xfrm>
          <a:prstGeom prst="roundRect">
            <a:avLst>
              <a:gd name="adj" fmla="val 33333"/>
            </a:avLst>
          </a:prstGeom>
          <a:solidFill>
            <a:srgbClr val="2B3150"/>
          </a:solidFill>
          <a:ln w="12700">
            <a:solidFill>
              <a:srgbClr val="2B3A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3374136"/>
            <a:ext cx="1325880" cy="164592"/>
          </a:xfrm>
          <a:prstGeom prst="roundRect">
            <a:avLst>
              <a:gd name="adj" fmla="val 33333"/>
            </a:avLst>
          </a:prstGeom>
          <a:solidFill>
            <a:srgbClr val="233148"/>
          </a:solidFill>
          <a:ln w="12700">
            <a:solidFill>
              <a:srgbClr val="2B3A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2715768"/>
            <a:ext cx="201168" cy="201168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82112" y="388620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38928" y="2157984"/>
            <a:ext cx="2084832" cy="2139696"/>
          </a:xfrm>
          <a:prstGeom prst="roundRect">
            <a:avLst>
              <a:gd name="adj" fmla="val 5702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8928" y="2157984"/>
            <a:ext cx="2084832" cy="292608"/>
          </a:xfrm>
          <a:prstGeom prst="roundRect">
            <a:avLst>
              <a:gd name="adj" fmla="val 40625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2240280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03520" y="2688336"/>
            <a:ext cx="475488" cy="1280160"/>
          </a:xfrm>
          <a:prstGeom prst="roundRect">
            <a:avLst>
              <a:gd name="adj" fmla="val 11538"/>
            </a:avLst>
          </a:prstGeom>
          <a:solidFill>
            <a:srgbClr val="1B2940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25312" y="2761488"/>
            <a:ext cx="978408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29" name="Shape 27"/>
          <p:cNvSpPr/>
          <p:nvPr/>
        </p:nvSpPr>
        <p:spPr>
          <a:xfrm>
            <a:off x="5925312" y="2971800"/>
            <a:ext cx="1143000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30" name="Shape 28"/>
          <p:cNvSpPr/>
          <p:nvPr/>
        </p:nvSpPr>
        <p:spPr>
          <a:xfrm>
            <a:off x="5925312" y="3182112"/>
            <a:ext cx="978408" cy="0"/>
          </a:xfrm>
          <a:prstGeom prst="line">
            <a:avLst/>
          </a:prstGeom>
          <a:noFill/>
          <a:ln w="12700">
            <a:solidFill>
              <a:srgbClr val="FFC857"/>
            </a:solidFill>
            <a:prstDash val="solid"/>
            <a:headEnd type="none"/>
          </a:ln>
        </p:spPr>
      </p:sp>
      <p:sp>
        <p:nvSpPr>
          <p:cNvPr id="31" name="Shape 29"/>
          <p:cNvSpPr/>
          <p:nvPr/>
        </p:nvSpPr>
        <p:spPr>
          <a:xfrm>
            <a:off x="5925312" y="3392424"/>
            <a:ext cx="1143000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32" name="Shape 30"/>
          <p:cNvSpPr/>
          <p:nvPr/>
        </p:nvSpPr>
        <p:spPr>
          <a:xfrm>
            <a:off x="5925312" y="3602736"/>
            <a:ext cx="978408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33" name="Text 31"/>
          <p:cNvSpPr txBox="1"/>
          <p:nvPr/>
        </p:nvSpPr>
        <p:spPr>
          <a:xfrm>
            <a:off x="5340096" y="397764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r04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51776" y="2157984"/>
            <a:ext cx="2084832" cy="2139696"/>
          </a:xfrm>
          <a:prstGeom prst="roundRect">
            <a:avLst>
              <a:gd name="adj" fmla="val 5702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51776" y="2157984"/>
            <a:ext cx="2084832" cy="292608"/>
          </a:xfrm>
          <a:prstGeom prst="roundRect">
            <a:avLst>
              <a:gd name="adj" fmla="val 40625"/>
            </a:avLst>
          </a:prstGeom>
          <a:solidFill>
            <a:srgbClr val="FF8C73"/>
          </a:solidFill>
          <a:ln w="12700">
            <a:solidFill>
              <a:srgbClr val="FF8C73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70648" y="2240280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498080" y="2660904"/>
            <a:ext cx="1792224" cy="1325880"/>
          </a:xfrm>
          <a:prstGeom prst="roundRect">
            <a:avLst>
              <a:gd name="adj" fmla="val 4138"/>
            </a:avLst>
          </a:prstGeom>
          <a:solidFill>
            <a:srgbClr val="E6EDF5"/>
          </a:solidFill>
          <a:ln w="12700">
            <a:solidFill>
              <a:srgbClr val="FF8C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44384" y="2852928"/>
            <a:ext cx="868680" cy="164592"/>
          </a:xfrm>
          <a:prstGeom prst="roundRect">
            <a:avLst>
              <a:gd name="adj" fmla="val 27778"/>
            </a:avLst>
          </a:prstGeom>
          <a:solidFill>
            <a:srgbClr val="FF8C73"/>
          </a:solidFill>
          <a:ln w="12700">
            <a:solidFill>
              <a:srgbClr val="FF8C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44384" y="3163824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B9C6D9"/>
          </a:solidFill>
          <a:ln w="12700">
            <a:solidFill>
              <a:srgbClr val="B9C6D9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44384" y="3410712"/>
            <a:ext cx="1097280" cy="91440"/>
          </a:xfrm>
          <a:prstGeom prst="roundRect">
            <a:avLst>
              <a:gd name="adj" fmla="val 50000"/>
            </a:avLst>
          </a:prstGeom>
          <a:solidFill>
            <a:srgbClr val="B9C6D9"/>
          </a:solidFill>
          <a:ln w="12700">
            <a:solidFill>
              <a:srgbClr val="B9C6D9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0376" y="397764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564624" y="2157984"/>
            <a:ext cx="1938528" cy="2139696"/>
          </a:xfrm>
          <a:prstGeom prst="roundRect">
            <a:avLst>
              <a:gd name="adj" fmla="val 6132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64624" y="2157984"/>
            <a:ext cx="1938528" cy="292608"/>
          </a:xfrm>
          <a:prstGeom prst="roundRect">
            <a:avLst>
              <a:gd name="adj" fmla="val 40625"/>
            </a:avLst>
          </a:prstGeom>
          <a:solidFill>
            <a:srgbClr val="80E0A3"/>
          </a:solidFill>
          <a:ln w="12700">
            <a:solidFill>
              <a:srgbClr val="80E0A3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83496" y="2240280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784080" y="2734056"/>
            <a:ext cx="118872" cy="118872"/>
          </a:xfrm>
          <a:prstGeom prst="ellipse">
            <a:avLst/>
          </a:prstGeom>
          <a:solidFill>
            <a:srgbClr val="80E0A3"/>
          </a:solidFill>
          <a:ln w="12700">
            <a:solidFill>
              <a:srgbClr val="80E0A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49256" y="2798064"/>
            <a:ext cx="932688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47" name="Shape 45"/>
          <p:cNvSpPr/>
          <p:nvPr/>
        </p:nvSpPr>
        <p:spPr>
          <a:xfrm>
            <a:off x="9784080" y="3035808"/>
            <a:ext cx="118872" cy="11887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49256" y="3099816"/>
            <a:ext cx="1133856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49" name="Shape 47"/>
          <p:cNvSpPr/>
          <p:nvPr/>
        </p:nvSpPr>
        <p:spPr>
          <a:xfrm>
            <a:off x="9784080" y="3337560"/>
            <a:ext cx="118872" cy="118872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49256" y="3401568"/>
            <a:ext cx="932688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51" name="Shape 49"/>
          <p:cNvSpPr/>
          <p:nvPr/>
        </p:nvSpPr>
        <p:spPr>
          <a:xfrm>
            <a:off x="9784080" y="3639312"/>
            <a:ext cx="118872" cy="11887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49256" y="3703320"/>
            <a:ext cx="1133856" cy="0"/>
          </a:xfrm>
          <a:prstGeom prst="line">
            <a:avLst/>
          </a:prstGeom>
          <a:noFill/>
          <a:ln w="12700">
            <a:solidFill>
              <a:srgbClr val="9BA7BD"/>
            </a:solidFill>
            <a:prstDash val="solid"/>
            <a:headEnd type="none"/>
          </a:ln>
        </p:spPr>
      </p:sp>
      <p:sp>
        <p:nvSpPr>
          <p:cNvPr id="53" name="Text 51"/>
          <p:cNvSpPr txBox="1"/>
          <p:nvPr/>
        </p:nvSpPr>
        <p:spPr>
          <a:xfrm>
            <a:off x="9729216" y="3977640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+ costs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713232" y="4828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PIPELINE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993392" y="4736592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993392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1682496" y="51206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267712" y="4864608"/>
            <a:ext cx="932688" cy="0"/>
          </a:xfrm>
          <a:prstGeom prst="line">
            <a:avLst/>
          </a:prstGeom>
          <a:noFill/>
          <a:ln w="1524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346704" y="4736592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346704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3035808" y="51206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621024" y="4864608"/>
            <a:ext cx="932688" cy="0"/>
          </a:xfrm>
          <a:prstGeom prst="line">
            <a:avLst/>
          </a:prstGeom>
          <a:noFill/>
          <a:ln w="1524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700016" y="4736592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700016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4389120" y="51206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74336" y="4864608"/>
            <a:ext cx="932688" cy="0"/>
          </a:xfrm>
          <a:prstGeom prst="line">
            <a:avLst/>
          </a:prstGeom>
          <a:noFill/>
          <a:ln w="1524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053328" y="4736592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053328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69" name="Text 67"/>
          <p:cNvSpPr txBox="1"/>
          <p:nvPr/>
        </p:nvSpPr>
        <p:spPr>
          <a:xfrm>
            <a:off x="5742432" y="51206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SYNTHESIZE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327648" y="4864608"/>
            <a:ext cx="932688" cy="0"/>
          </a:xfrm>
          <a:prstGeom prst="line">
            <a:avLst/>
          </a:prstGeom>
          <a:noFill/>
          <a:ln w="1524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406640" y="4736592"/>
            <a:ext cx="256032" cy="256032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06640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7095744" y="51206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680960" y="4864608"/>
            <a:ext cx="932688" cy="0"/>
          </a:xfrm>
          <a:prstGeom prst="line">
            <a:avLst/>
          </a:prstGeom>
          <a:noFill/>
          <a:ln w="1524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8759952" y="4736592"/>
            <a:ext cx="256032" cy="25603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759952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8449056" y="51206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034272" y="4864608"/>
            <a:ext cx="932688" cy="0"/>
          </a:xfrm>
          <a:prstGeom prst="line">
            <a:avLst/>
          </a:prstGeom>
          <a:noFill/>
          <a:ln w="15240">
            <a:solidFill>
              <a:srgbClr val="263653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0113264" y="4736592"/>
            <a:ext cx="256032" cy="256032"/>
          </a:xfrm>
          <a:prstGeom prst="ellipse">
            <a:avLst/>
          </a:prstGeom>
          <a:solidFill>
            <a:srgbClr val="80E0A3"/>
          </a:solidFill>
          <a:ln w="12700">
            <a:solidFill>
              <a:srgbClr val="80E0A3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113264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00" dirty="0"/>
          </a:p>
        </p:txBody>
      </p:sp>
      <p:sp>
        <p:nvSpPr>
          <p:cNvPr id="81" name="Text 79"/>
          <p:cNvSpPr txBox="1"/>
          <p:nvPr/>
        </p:nvSpPr>
        <p:spPr>
          <a:xfrm>
            <a:off x="9802368" y="51206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731520" y="574243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feedback loops directly back to the Coding Agent while unrelated files remain preserved.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  /  PRODUCT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9319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64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READINESS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Built, verified, and ready for its next frontier.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3075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is working. The next gains come from operational hardening and runtime expansion.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1000232" cy="0"/>
          </a:xfrm>
          <a:prstGeom prst="line">
            <a:avLst/>
          </a:prstGeom>
          <a:noFill/>
          <a:ln w="10160">
            <a:solidFill>
              <a:srgbClr val="263653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713232" y="2148840"/>
            <a:ext cx="5102352" cy="3438144"/>
          </a:xfrm>
          <a:prstGeom prst="roundRect">
            <a:avLst>
              <a:gd name="adj" fmla="val 3723"/>
            </a:avLst>
          </a:prstGeom>
          <a:solidFill>
            <a:srgbClr val="121A2C"/>
          </a:solidFill>
          <a:ln w="12700">
            <a:solidFill>
              <a:srgbClr val="2636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80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READY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2608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4E6D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3814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checks passing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92608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B8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43814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agent/file turns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00507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4517136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tracked files per project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00507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8C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409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517136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stale-write protection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074920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is disposable and provider-mocked; live model acceptance remains the next confidence gate.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8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HORIZON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9088" y="2907792"/>
            <a:ext cx="338328" cy="338328"/>
          </a:xfrm>
          <a:prstGeom prst="ellipse">
            <a:avLst/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9088" y="3008376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8986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Live-provider acceptance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19125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Gemini / NVIDIA / Mistral runs with quality and cost checks.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0" y="3291840"/>
            <a:ext cx="0" cy="457200"/>
          </a:xfrm>
          <a:prstGeom prst="line">
            <a:avLst/>
          </a:prstGeom>
          <a:noFill/>
          <a:ln w="12700">
            <a:solidFill>
              <a:srgbClr val="263653"/>
            </a:solidFill>
            <a:prstDash val="solid"/>
            <a:headEnd type="none"/>
          </a:ln>
        </p:spPr>
      </p:sp>
      <p:sp>
        <p:nvSpPr>
          <p:cNvPr id="23" name="Shape 21"/>
          <p:cNvSpPr/>
          <p:nvPr/>
        </p:nvSpPr>
        <p:spPr>
          <a:xfrm>
            <a:off x="6419088" y="3749040"/>
            <a:ext cx="338328" cy="338328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9088" y="3849624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739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hardening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0325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Authentication, rate limits, durable spend tracking, blob cleanup.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0" y="4133088"/>
            <a:ext cx="0" cy="457200"/>
          </a:xfrm>
          <a:prstGeom prst="line">
            <a:avLst/>
          </a:prstGeom>
          <a:noFill/>
          <a:ln w="12700">
            <a:solidFill>
              <a:srgbClr val="263653"/>
            </a:solidFill>
            <a:prstDash val="solid"/>
            <a:headEnd type="none"/>
          </a:ln>
        </p:spPr>
      </p:sp>
      <p:sp>
        <p:nvSpPr>
          <p:cNvPr id="28" name="Shape 26"/>
          <p:cNvSpPr/>
          <p:nvPr/>
        </p:nvSpPr>
        <p:spPr>
          <a:xfrm>
            <a:off x="6419088" y="4590288"/>
            <a:ext cx="338328" cy="3383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9088" y="4690872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581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expansion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87375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BA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builds, backend execution, OCR, and richer binary readers.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19088" y="5577840"/>
            <a:ext cx="4754880" cy="438912"/>
          </a:xfrm>
          <a:prstGeom prst="roundRect">
            <a:avLst>
              <a:gd name="adj" fmla="val 20833"/>
            </a:avLst>
          </a:prstGeom>
          <a:solidFill>
            <a:srgbClr val="64E6D3"/>
          </a:solidFill>
          <a:ln w="12700">
            <a:solidFill>
              <a:srgbClr val="64E6D3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9088" y="570585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dev   →   localhost:3000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ORCHESTRA  /  READY FOR THE NEXT ITERATION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Orchestra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Orchestra — From intent to shipped experiences</dc:title>
  <dc:subject>Agent Orchestra product overview</dc:subject>
  <dc:creator>Agent Orchestra</dc:creator>
  <cp:lastModifiedBy>Agent Orchestra</cp:lastModifiedBy>
  <cp:revision>1</cp:revision>
  <dcterms:created xsi:type="dcterms:W3CDTF">2026-10-03T04:00:40Z</dcterms:created>
  <dcterms:modified xsi:type="dcterms:W3CDTF">2026-10-03T04:00:40Z</dcterms:modified>
</cp:coreProperties>
</file>